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2" r:id="rId3"/>
    <p:sldId id="257" r:id="rId4"/>
    <p:sldId id="260" r:id="rId5"/>
    <p:sldId id="263" r:id="rId6"/>
    <p:sldId id="264" r:id="rId7"/>
    <p:sldId id="266" r:id="rId8"/>
    <p:sldId id="290" r:id="rId9"/>
    <p:sldId id="291" r:id="rId10"/>
    <p:sldId id="293" r:id="rId11"/>
    <p:sldId id="294" r:id="rId12"/>
    <p:sldId id="295" r:id="rId13"/>
    <p:sldId id="296" r:id="rId14"/>
    <p:sldId id="297" r:id="rId15"/>
    <p:sldId id="299" r:id="rId16"/>
    <p:sldId id="298" r:id="rId17"/>
    <p:sldId id="300" r:id="rId18"/>
    <p:sldId id="301" r:id="rId19"/>
    <p:sldId id="302" r:id="rId20"/>
    <p:sldId id="303" r:id="rId21"/>
    <p:sldId id="304" r:id="rId22"/>
    <p:sldId id="276" r:id="rId23"/>
    <p:sldId id="259" r:id="rId24"/>
  </p:sldIdLst>
  <p:sldSz cx="12192000" cy="6858000"/>
  <p:notesSz cx="6858000" cy="9144000"/>
  <p:embeddedFontLst>
    <p:embeddedFont>
      <p:font typeface="Trebuchet MS" panose="020B0603020202020204" pitchFamily="34" charset="0"/>
      <p:regular r:id="rId26"/>
      <p:bold r:id="rId27"/>
      <p:italic r:id="rId28"/>
      <p:boldItalic r:id="rId29"/>
    </p:embeddedFont>
    <p:embeddedFont>
      <p:font typeface="Libre Baskerville" panose="020B0604020202020204" charset="0"/>
      <p:regular r:id="rId30"/>
      <p:bold r:id="rId31"/>
      <p: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53" autoAdjust="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4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feed/?trk=guest_homepage-basic_nav-header-sign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Lucy-star-144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96982"/>
            <a:ext cx="12190815" cy="67610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29558" y="3925804"/>
            <a:ext cx="833364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600" b="1" dirty="0">
                <a:solidFill>
                  <a:schemeClr val="tx1"/>
                </a:solidFill>
              </a:rPr>
              <a:t>Telecom Revenue &amp; Profitability Dashboard </a:t>
            </a:r>
            <a:endParaRPr sz="36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To Write In An All About Me Essay - iWriteEssay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20" y="152400"/>
            <a:ext cx="11970328" cy="5652655"/>
          </a:xfrm>
          <a:prstGeom prst="rect">
            <a:avLst/>
          </a:prstGeom>
          <a:solidFill>
            <a:schemeClr val="accent1"/>
          </a:solidFill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161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9649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IN" sz="4400" b="1" dirty="0">
                <a:solidFill>
                  <a:schemeClr val="dk1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Background ? (B-tech or M-tech)</a:t>
            </a:r>
          </a:p>
          <a:p>
            <a:r>
              <a:rPr lang="en-US" sz="4400" b="1" dirty="0" smtClean="0">
                <a:latin typeface="Trebuchet MS" panose="020B0603020202020204" pitchFamily="34" charset="0"/>
              </a:rPr>
              <a:t/>
            </a:r>
            <a:br>
              <a:rPr lang="en-US" sz="4400" b="1" dirty="0" smtClean="0">
                <a:latin typeface="Trebuchet MS" panose="020B0603020202020204" pitchFamily="34" charset="0"/>
              </a:rPr>
            </a:br>
            <a:endParaRPr lang="en-IN" sz="4400" dirty="0"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5018" y="1690688"/>
            <a:ext cx="106887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  <a:cs typeface="Calibri" panose="020F0502020204030204" pitchFamily="34" charset="0"/>
              </a:rPr>
              <a:t>I am from a </a:t>
            </a:r>
            <a:r>
              <a:rPr lang="en-IN" sz="2000" b="1" dirty="0">
                <a:latin typeface="Trebuchet MS" panose="020B0603020202020204" pitchFamily="34" charset="0"/>
                <a:cs typeface="Calibri" panose="020F0502020204030204" pitchFamily="34" charset="0"/>
              </a:rPr>
              <a:t>Computer Engineering </a:t>
            </a:r>
            <a:r>
              <a:rPr lang="en-IN" sz="2000" dirty="0">
                <a:latin typeface="Trebuchet MS" panose="020B0603020202020204" pitchFamily="34" charset="0"/>
                <a:cs typeface="Calibri" panose="020F0502020204030204" pitchFamily="34" charset="0"/>
              </a:rPr>
              <a:t>Background, which has given me a background in both Hardware concepts and software development.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  <a:cs typeface="Calibri" panose="020F0502020204030204" pitchFamily="34" charset="0"/>
              </a:rPr>
              <a:t>This combination helps me  approach problems from a technical and analytical perspective</a:t>
            </a:r>
            <a:r>
              <a:rPr lang="en-IN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673" y="3374779"/>
            <a:ext cx="1044286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LinkedIn</a:t>
            </a:r>
            <a:r>
              <a:rPr lang="en-IN" sz="4400" dirty="0" smtClean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:-</a:t>
            </a:r>
            <a:endParaRPr lang="en-IN" sz="4400" dirty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114300" lvl="1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  <a:hlinkClick r:id="rId3"/>
              </a:rPr>
              <a:t>https://www.linkedin.com/feed/?</a:t>
            </a:r>
            <a:r>
              <a:rPr lang="en-IN" sz="2000" dirty="0" smtClean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  <a:hlinkClick r:id="rId3"/>
              </a:rPr>
              <a:t>trk=guest_homepage-basic_nav-header-signin</a:t>
            </a:r>
            <a:endParaRPr lang="en-IN" sz="2000" dirty="0" smtClean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114300" lvl="1"/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r>
              <a:rPr lang="en-IN" sz="4400" b="1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GitHub</a:t>
            </a:r>
            <a:r>
              <a:rPr lang="en-IN" sz="4400" dirty="0" smtClean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</a:rPr>
              <a:t>:-</a:t>
            </a:r>
            <a:endParaRPr lang="en-IN" sz="4400" dirty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114300"/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IN" sz="2000" dirty="0" smtClean="0">
                <a:solidFill>
                  <a:schemeClr val="tx1"/>
                </a:solidFill>
                <a:latin typeface="Trebuchet MS" panose="020B0603020202020204" pitchFamily="34" charset="0"/>
                <a:cs typeface="Calibri" panose="020F0502020204030204" pitchFamily="34" charset="0"/>
                <a:hlinkClick r:id="rId4"/>
              </a:rPr>
              <a:t>github.com/Lucy-star-144</a:t>
            </a:r>
            <a:endParaRPr lang="en-IN" sz="2000" dirty="0" smtClean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pPr marL="114300"/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>
                <a:latin typeface="Trebuchet MS" panose="020B0603020202020204" pitchFamily="34" charset="0"/>
              </a:rPr>
              <a:t>Why you want to learn Data </a:t>
            </a:r>
            <a:r>
              <a:rPr lang="en-US" b="1" dirty="0" smtClean="0">
                <a:latin typeface="Trebuchet MS" panose="020B0603020202020204" pitchFamily="34" charset="0"/>
              </a:rPr>
              <a:t>Science ?</a:t>
            </a:r>
            <a:r>
              <a:rPr lang="en-US" b="1" dirty="0">
                <a:latin typeface="Trebuchet MS" panose="020B0603020202020204" pitchFamily="34" charset="0"/>
              </a:rPr>
              <a:t/>
            </a:r>
            <a:br>
              <a:rPr lang="en-US" b="1" dirty="0">
                <a:latin typeface="Trebuchet MS" panose="020B0603020202020204" pitchFamily="34" charset="0"/>
              </a:rPr>
            </a:b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65564"/>
            <a:ext cx="10515600" cy="461139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rebuchet MS" panose="020B0603020202020204" pitchFamily="34" charset="0"/>
              </a:rPr>
              <a:t>I want to learn </a:t>
            </a:r>
            <a:r>
              <a:rPr lang="en-US" sz="2000" b="1" dirty="0">
                <a:latin typeface="Trebuchet MS" panose="020B0603020202020204" pitchFamily="34" charset="0"/>
              </a:rPr>
              <a:t>Data Science</a:t>
            </a:r>
            <a:r>
              <a:rPr lang="en-US" sz="2000" dirty="0">
                <a:latin typeface="Trebuchet MS" panose="020B0603020202020204" pitchFamily="34" charset="0"/>
              </a:rPr>
              <a:t> because it combines my interest in </a:t>
            </a:r>
            <a:r>
              <a:rPr lang="en-US" sz="2000" b="1" dirty="0">
                <a:latin typeface="Trebuchet MS" panose="020B0603020202020204" pitchFamily="34" charset="0"/>
              </a:rPr>
              <a:t>programming, mathematics, and real-world problem solving</a:t>
            </a:r>
            <a:r>
              <a:rPr lang="en-US" sz="2000" dirty="0">
                <a:latin typeface="Trebuchet MS" panose="020B0603020202020204" pitchFamily="34" charset="0"/>
              </a:rPr>
              <a:t>. With the rapid growth of data in every field—business, healthcare, technology, and beyond—being able to extract meaningful insights has become one of the most valuable skills</a:t>
            </a:r>
            <a:r>
              <a:rPr lang="en-US" sz="2000" dirty="0" smtClean="0">
                <a:latin typeface="Trebuchet MS" panose="020B0603020202020204" pitchFamily="34" charset="0"/>
              </a:rPr>
              <a:t>.</a:t>
            </a:r>
          </a:p>
          <a:p>
            <a:pPr marL="0" indent="0">
              <a:buNone/>
            </a:pPr>
            <a:endParaRPr lang="en-US" sz="2000" dirty="0" smtClean="0">
              <a:latin typeface="Trebuchet MS" panose="020B0603020202020204" pitchFamily="34" charset="0"/>
            </a:endParaRPr>
          </a:p>
          <a:p>
            <a:r>
              <a:rPr lang="en-US" sz="2000" dirty="0">
                <a:latin typeface="Trebuchet MS" panose="020B0603020202020204" pitchFamily="34" charset="0"/>
              </a:rPr>
              <a:t>Learning Data Science will help me bridge the gap between raw data and actionable decisions, and open opportunities in </a:t>
            </a:r>
            <a:r>
              <a:rPr lang="en-US" sz="2000" b="1" dirty="0">
                <a:latin typeface="Trebuchet MS" panose="020B0603020202020204" pitchFamily="34" charset="0"/>
              </a:rPr>
              <a:t>AI, predictive analytics, and intelligent systems</a:t>
            </a:r>
            <a:r>
              <a:rPr lang="en-US" sz="2000" dirty="0" smtClean="0">
                <a:latin typeface="Trebuchet MS" panose="020B0603020202020204" pitchFamily="34" charset="0"/>
              </a:rPr>
              <a:t>.</a:t>
            </a:r>
          </a:p>
          <a:p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dirty="0">
                <a:latin typeface="Trebuchet MS" panose="020B0603020202020204" pitchFamily="34" charset="0"/>
              </a:rPr>
              <a:t>Ultimately, I see Data Science as a way to </a:t>
            </a:r>
            <a:r>
              <a:rPr lang="en-US" sz="2000" b="1" dirty="0">
                <a:latin typeface="Trebuchet MS" panose="020B0603020202020204" pitchFamily="34" charset="0"/>
              </a:rPr>
              <a:t>turn data into impact</a:t>
            </a:r>
            <a:r>
              <a:rPr lang="en-US" sz="2000" dirty="0">
                <a:latin typeface="Trebuchet MS" panose="020B0603020202020204" pitchFamily="34" charset="0"/>
              </a:rPr>
              <a:t>, whether it’s improving business strategies, building smarter applications, or contributing to research that benefits society.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98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rebuchet MS" panose="020B0603020202020204" pitchFamily="34" charset="0"/>
              </a:rPr>
              <a:t>Agenda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61042"/>
            <a:ext cx="895696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1.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Business Problem and Domain Understanding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Objective of the Project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Project Workflow and Tools Used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Summary of the Dataset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Preparation and Transformation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Cleaning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Transformation using Power Query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Handling Missing Values and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Modelling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Model and Table Relationships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Schema and Calendar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DAX Measures and KPI Development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Key Business Metrics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Calculated Columns vs. Measures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Dashboard Development and Visualization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Dashboard Pages and Design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KPIs, Charts, Slicers, and Drill-through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Key Business Questions and Insights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Conclusion and Recommendations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Challenges Faced and Learnings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2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Q&amp;A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93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rebuchet MS" panose="020B0603020202020204" pitchFamily="34" charset="0"/>
              </a:rPr>
              <a:t>Business </a:t>
            </a:r>
            <a:r>
              <a:rPr lang="en-IN" b="1" dirty="0" smtClean="0">
                <a:latin typeface="Trebuchet MS" panose="020B0603020202020204" pitchFamily="34" charset="0"/>
              </a:rPr>
              <a:t>Problem And Domain Understanding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2108" y="1248158"/>
            <a:ext cx="895003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Domain: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Telecommunications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Business Problem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Telecom businesses generate large volumes of customer, usage, billing, and service-ticket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Analyzing these data separately makes it difficult to identify revenue trends, profitability gaps, payment delays, and customer service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 consolidated view is needed to monitor business performance and support data-driven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Use Case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Develop an interactive Power BI dashboard to analyze telecom revenue, profitability, customer behavior, collections, and service performance.</a:t>
            </a:r>
          </a:p>
        </p:txBody>
      </p:sp>
    </p:spTree>
    <p:extLst>
      <p:ext uri="{BB962C8B-B14F-4D97-AF65-F5344CB8AC3E}">
        <p14:creationId xmlns:p14="http://schemas.microsoft.com/office/powerpoint/2010/main" val="65117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rebuchet MS" panose="020B0603020202020204" pitchFamily="34" charset="0"/>
              </a:rPr>
              <a:t>Objective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7" y="1657345"/>
            <a:ext cx="9722533" cy="320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000" dirty="0">
                <a:latin typeface="Trebuchet MS" panose="020B0603020202020204" pitchFamily="34" charset="0"/>
              </a:rPr>
              <a:t>To develop an interactive Power BI dashboard that enables management to: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Monitor overall revenue and profitability.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Compare performance across markets, regions, plans, and customer segments.</a:t>
            </a:r>
          </a:p>
          <a:p>
            <a:r>
              <a:rPr lang="en-US" sz="2000" dirty="0" smtClean="0">
                <a:latin typeface="Trebuchet MS" panose="020B0603020202020204" pitchFamily="34" charset="0"/>
              </a:rPr>
              <a:t>Analyze </a:t>
            </a:r>
            <a:r>
              <a:rPr lang="en-US" sz="2000" dirty="0">
                <a:latin typeface="Trebuchet MS" panose="020B0603020202020204" pitchFamily="34" charset="0"/>
              </a:rPr>
              <a:t>payment </a:t>
            </a:r>
            <a:r>
              <a:rPr lang="en-US" sz="2000" dirty="0" smtClean="0">
                <a:latin typeface="Trebuchet MS" panose="020B0603020202020204" pitchFamily="34" charset="0"/>
              </a:rPr>
              <a:t>behavior </a:t>
            </a:r>
            <a:r>
              <a:rPr lang="en-US" sz="2000" dirty="0">
                <a:latin typeface="Trebuchet MS" panose="020B0603020202020204" pitchFamily="34" charset="0"/>
              </a:rPr>
              <a:t>and delinquency patterns.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Evaluate customer service performance using ticket activity and CSAT.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Identify customers exhibiting potential churn-risk signals.</a:t>
            </a:r>
          </a:p>
          <a:p>
            <a:r>
              <a:rPr lang="en-US" sz="2000" dirty="0">
                <a:latin typeface="Trebuchet MS" panose="020B0603020202020204" pitchFamily="34" charset="0"/>
              </a:rPr>
              <a:t>Discover trends and areas requiring further business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60474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rebuchet MS" panose="020B0603020202020204" pitchFamily="34" charset="0"/>
              </a:rPr>
              <a:t>Project Workflow And Tools Used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218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b="1" dirty="0">
                <a:latin typeface="Trebuchet MS" panose="020B0603020202020204" pitchFamily="34" charset="0"/>
              </a:rPr>
              <a:t>Project Workflow</a:t>
            </a:r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Trebuchet MS" panose="020B0603020202020204" pitchFamily="34" charset="0"/>
              </a:rPr>
              <a:t>Imported and explored telecom customer, usage, and ticket datasets.</a:t>
            </a:r>
          </a:p>
          <a:p>
            <a:r>
              <a:rPr lang="en-US" dirty="0">
                <a:latin typeface="Trebuchet MS" panose="020B0603020202020204" pitchFamily="34" charset="0"/>
              </a:rPr>
              <a:t>Cleaned and transformed data using Power Query.</a:t>
            </a:r>
          </a:p>
          <a:p>
            <a:r>
              <a:rPr lang="en-US" dirty="0">
                <a:latin typeface="Trebuchet MS" panose="020B0603020202020204" pitchFamily="34" charset="0"/>
              </a:rPr>
              <a:t>Built relationships between tables and created a Calendar table.</a:t>
            </a:r>
          </a:p>
          <a:p>
            <a:r>
              <a:rPr lang="en-US" dirty="0">
                <a:latin typeface="Trebuchet MS" panose="020B0603020202020204" pitchFamily="34" charset="0"/>
              </a:rPr>
              <a:t>Developed DAX measures and calculated columns for key business metrics.</a:t>
            </a:r>
          </a:p>
          <a:p>
            <a:r>
              <a:rPr lang="en-US" dirty="0">
                <a:latin typeface="Trebuchet MS" panose="020B0603020202020204" pitchFamily="34" charset="0"/>
              </a:rPr>
              <a:t>Designed interactive dashboards using KPIs, charts, slicers, and drill-through.</a:t>
            </a:r>
          </a:p>
          <a:p>
            <a:r>
              <a:rPr lang="en-US" dirty="0" smtClean="0">
                <a:latin typeface="Trebuchet MS" panose="020B0603020202020204" pitchFamily="34" charset="0"/>
              </a:rPr>
              <a:t>Analyzed </a:t>
            </a:r>
            <a:r>
              <a:rPr lang="en-US" dirty="0">
                <a:latin typeface="Trebuchet MS" panose="020B0603020202020204" pitchFamily="34" charset="0"/>
              </a:rPr>
              <a:t>business performance and derived actionable insights</a:t>
            </a:r>
            <a:r>
              <a:rPr lang="en-US" dirty="0" smtClean="0">
                <a:latin typeface="Trebuchet MS" panose="020B0603020202020204" pitchFamily="34" charset="0"/>
              </a:rPr>
              <a:t>.</a:t>
            </a:r>
          </a:p>
          <a:p>
            <a:pPr marL="114300" indent="0">
              <a:buNone/>
            </a:pPr>
            <a:endParaRPr lang="en-US" dirty="0">
              <a:latin typeface="Trebuchet MS" panose="020B0603020202020204" pitchFamily="34" charset="0"/>
            </a:endParaRPr>
          </a:p>
          <a:p>
            <a:pPr marL="114300" indent="0">
              <a:buNone/>
            </a:pPr>
            <a:r>
              <a:rPr lang="en-US" b="1" dirty="0">
                <a:latin typeface="Trebuchet MS" panose="020B0603020202020204" pitchFamily="34" charset="0"/>
              </a:rPr>
              <a:t>Tools Used</a:t>
            </a:r>
            <a:endParaRPr lang="en-US" dirty="0">
              <a:latin typeface="Trebuchet MS" panose="020B0603020202020204" pitchFamily="34" charset="0"/>
            </a:endParaRPr>
          </a:p>
          <a:p>
            <a:r>
              <a:rPr lang="en-US" b="1" dirty="0">
                <a:latin typeface="Trebuchet MS" panose="020B0603020202020204" pitchFamily="34" charset="0"/>
              </a:rPr>
              <a:t>Power BI Desktop:</a:t>
            </a:r>
            <a:r>
              <a:rPr lang="en-US" dirty="0">
                <a:latin typeface="Trebuchet MS" panose="020B0603020202020204" pitchFamily="34" charset="0"/>
              </a:rPr>
              <a:t> Data modelling, DAX calculations, and dashboard development.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Power Query:</a:t>
            </a:r>
            <a:r>
              <a:rPr lang="en-US" dirty="0">
                <a:latin typeface="Trebuchet MS" panose="020B0603020202020204" pitchFamily="34" charset="0"/>
              </a:rPr>
              <a:t> Data cleaning and transformation.</a:t>
            </a:r>
          </a:p>
          <a:p>
            <a:r>
              <a:rPr lang="en-US" b="1" dirty="0">
                <a:latin typeface="Trebuchet MS" panose="020B0603020202020204" pitchFamily="34" charset="0"/>
              </a:rPr>
              <a:t>DAX:</a:t>
            </a:r>
            <a:r>
              <a:rPr lang="en-US" dirty="0">
                <a:latin typeface="Trebuchet MS" panose="020B0603020202020204" pitchFamily="34" charset="0"/>
              </a:rPr>
              <a:t> KPI calculations and customer churn-risk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88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rebuchet MS" panose="020B0603020202020204" pitchFamily="34" charset="0"/>
              </a:rPr>
              <a:t>Summary Of The Dataset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7855"/>
            <a:ext cx="10515600" cy="4639108"/>
          </a:xfrm>
        </p:spPr>
        <p:txBody>
          <a:bodyPr/>
          <a:lstStyle/>
          <a:p>
            <a:pPr marL="114300" indent="0">
              <a:buNone/>
            </a:pPr>
            <a:r>
              <a:rPr lang="en-US" sz="2200" b="1" dirty="0">
                <a:latin typeface="Trebuchet MS" panose="020B0603020202020204" pitchFamily="34" charset="0"/>
              </a:rPr>
              <a:t>Summary of the Dataset</a:t>
            </a:r>
          </a:p>
          <a:p>
            <a:r>
              <a:rPr lang="en-US" sz="2200" dirty="0">
                <a:latin typeface="Trebuchet MS" panose="020B0603020202020204" pitchFamily="34" charset="0"/>
              </a:rPr>
              <a:t>The project uses a telecom dataset containing customer, usage, billing, service-ticket, regional, and calendar information. The data is </a:t>
            </a:r>
            <a:r>
              <a:rPr lang="en-US" sz="2200" dirty="0" err="1">
                <a:latin typeface="Trebuchet MS" panose="020B0603020202020204" pitchFamily="34" charset="0"/>
              </a:rPr>
              <a:t>organised</a:t>
            </a:r>
            <a:r>
              <a:rPr lang="en-US" sz="2200" dirty="0">
                <a:latin typeface="Trebuchet MS" panose="020B0603020202020204" pitchFamily="34" charset="0"/>
              </a:rPr>
              <a:t> into separate tables to </a:t>
            </a:r>
            <a:r>
              <a:rPr lang="en-US" sz="2200" dirty="0" err="1">
                <a:latin typeface="Trebuchet MS" panose="020B0603020202020204" pitchFamily="34" charset="0"/>
              </a:rPr>
              <a:t>analyse</a:t>
            </a:r>
            <a:r>
              <a:rPr lang="en-US" sz="2200" dirty="0">
                <a:latin typeface="Trebuchet MS" panose="020B0603020202020204" pitchFamily="34" charset="0"/>
              </a:rPr>
              <a:t> business performance, customer </a:t>
            </a:r>
            <a:r>
              <a:rPr lang="en-US" sz="2200" dirty="0" err="1">
                <a:latin typeface="Trebuchet MS" panose="020B0603020202020204" pitchFamily="34" charset="0"/>
              </a:rPr>
              <a:t>behaviour</a:t>
            </a:r>
            <a:r>
              <a:rPr lang="en-US" sz="2200" dirty="0">
                <a:latin typeface="Trebuchet MS" panose="020B0603020202020204" pitchFamily="34" charset="0"/>
              </a:rPr>
              <a:t>, and service activity.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801837"/>
              </p:ext>
            </p:extLst>
          </p:nvPr>
        </p:nvGraphicFramePr>
        <p:xfrm>
          <a:off x="838201" y="3560619"/>
          <a:ext cx="9885218" cy="26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0344">
                  <a:extLst>
                    <a:ext uri="{9D8B030D-6E8A-4147-A177-3AD203B41FA5}">
                      <a16:colId xmlns:a16="http://schemas.microsoft.com/office/drawing/2014/main" val="3540924737"/>
                    </a:ext>
                  </a:extLst>
                </a:gridCol>
                <a:gridCol w="7334874">
                  <a:extLst>
                    <a:ext uri="{9D8B030D-6E8A-4147-A177-3AD203B41FA5}">
                      <a16:colId xmlns:a16="http://schemas.microsoft.com/office/drawing/2014/main" val="863454874"/>
                    </a:ext>
                  </a:extLst>
                </a:gridCol>
              </a:tblGrid>
              <a:tr h="2275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Table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2674413"/>
                  </a:ext>
                </a:extLst>
              </a:tr>
              <a:tr h="5241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Telecom_Customers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Contains customer-level information and supports customer-level metrics such as ticket count, average CSAT, and average days to pay.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228149"/>
                  </a:ext>
                </a:extLst>
              </a:tr>
              <a:tr h="642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Telecom_Usage_Fact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Contains customer usage and billing-related transaction data used to analyse revenue, profit, minutes, SMS, data usage, and payment-related metrics.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8317473"/>
                  </a:ext>
                </a:extLst>
              </a:tr>
              <a:tr h="4350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Telecom_Tickets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Contains customer service ticket information used to analyse ticket activity, ticket resolution, and customer satisfaction.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250191"/>
                  </a:ext>
                </a:extLst>
              </a:tr>
              <a:tr h="3521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RegionalPeople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Contains regional information used to support regional-level analysis.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9991795"/>
                  </a:ext>
                </a:extLst>
              </a:tr>
              <a:tr h="4350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Calendar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Date dimension used for time-based analysis and time-intelligence calculations.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5311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rebuchet MS" panose="020B0603020202020204" pitchFamily="34" charset="0"/>
              </a:rPr>
              <a:t>Data Preparation And Transformation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5964" y="1664728"/>
            <a:ext cx="9421091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1. Data Type Management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Reviewed numeric, decimal, date, and text data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Corrected a decimal data-type issue to ensure values were imported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2. Missing Value Handling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Reviewed missing values across the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Retained missing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CloseDate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values where they represented tickets without a recorded closure 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3. Column and Data Transformations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Reviewed columns and retained relevant fields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Removed unnecessary data where required to prepare datasets for modelling.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4. Data Validation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Verified that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CustomerID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was unique in the Customers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Checked numeric values and customer record 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Validated table relationships and customer-level data consistency in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53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rebuchet MS" panose="020B0603020202020204" pitchFamily="34" charset="0"/>
              </a:rPr>
              <a:t>Data </a:t>
            </a:r>
            <a:r>
              <a:rPr lang="en-IN" b="1" dirty="0" smtClean="0">
                <a:latin typeface="Trebuchet MS" panose="020B0603020202020204" pitchFamily="34" charset="0"/>
              </a:rPr>
              <a:t>Modelling</a:t>
            </a:r>
            <a:endParaRPr lang="en-IN" b="1" dirty="0">
              <a:latin typeface="Trebuchet MS" panose="020B0603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30070"/>
            <a:ext cx="470361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Model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Connected customer, usage, ticket, regional, and calendar tables using relevant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Established relationships using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CustomerID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, Region, and Date →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BillDate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Created a Calendar table with Year, Quarter, Month, and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YearMonth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fields for time-based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Relationship Validation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Checked cardinality, active relationships, and cross-filter direction.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Validated customer counts using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Telecom_Customers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CustomerID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] to avoid counting transactional records as unique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Reviewed relationships to avoid unintended many-to-many connections.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19" y="1530070"/>
            <a:ext cx="6509992" cy="460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8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607" y="332509"/>
            <a:ext cx="10705193" cy="1358179"/>
          </a:xfrm>
        </p:spPr>
        <p:txBody>
          <a:bodyPr/>
          <a:lstStyle/>
          <a:p>
            <a:r>
              <a:rPr lang="en-IN" b="1" dirty="0" smtClean="0">
                <a:latin typeface="Trebuchet MS" panose="020B0603020202020204" pitchFamily="34" charset="0"/>
              </a:rPr>
              <a:t>DAX Measures and KPIs</a:t>
            </a:r>
            <a:endParaRPr lang="en-IN" b="1" dirty="0">
              <a:latin typeface="Trebuchet MS" panose="020B0603020202020204" pitchFamily="34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8607" y="1500429"/>
            <a:ext cx="713808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Key DAX Measures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Revenue and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Total revenue = SUM(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Telecom_Usage_Fact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TotalCharge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Total profit = SUM(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Telecom_Usage_Fact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[Profit])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Total Profit Margin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Pct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= DIVIDE([Total profit], [Total revenue], 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Customer and Time-Based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ARPU = DIVIDE( [Total revenue], COUNTROWS(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Telecom_Customers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), 0 )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Time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Used CALCULATE() and SAMEPERIODLASTYEAR() to calculate previous-year revenue and YoY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Other KPIs: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Average Days to Pay, Payment Delayed %, Tickets Resolved %, Average CSAT, Total Minutes, Total SMS, and Total Data Usage.</a:t>
            </a:r>
          </a:p>
        </p:txBody>
      </p:sp>
    </p:spTree>
    <p:extLst>
      <p:ext uri="{BB962C8B-B14F-4D97-AF65-F5344CB8AC3E}">
        <p14:creationId xmlns:p14="http://schemas.microsoft.com/office/powerpoint/2010/main" val="162984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8871"/>
            <a:ext cx="10515600" cy="1325563"/>
          </a:xfrm>
        </p:spPr>
        <p:txBody>
          <a:bodyPr/>
          <a:lstStyle/>
          <a:p>
            <a:r>
              <a:rPr lang="en-IN" dirty="0" smtClean="0">
                <a:latin typeface="Trebuchet MS" panose="020B0603020202020204" pitchFamily="34" charset="0"/>
              </a:rPr>
              <a:t>Calculated Columns vs Measures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50" name="Rectangle 4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98949"/>
            <a:ext cx="922720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Calculated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Calculated for individual rows and stored in the data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Used to create classifications and transaction-level attributes.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Examples: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DaysToPay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DelinquentFlag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, and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ChurnRiskFlag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Measures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Calculated dynamically according to the current filter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Used for aggregations and KPIs in dashboard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Examples: Total Revenue, Profit Margin %, ARPU, YoY Growth %, and Churn Risk 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Customer Churn-Risk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Ticket count ≥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Average days to pay ≥ 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Average CSAT between 1 and 2.5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Moderate Risk and High Risk customers are included in the churn-risk customer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Note: Churn risk is a rule-based proxy, not actual observed customer churn.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8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82" y="198870"/>
            <a:ext cx="11734800" cy="1325563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sz="4900" b="1" dirty="0">
                <a:solidFill>
                  <a:schemeClr val="tx1"/>
                </a:solidFill>
                <a:latin typeface="Trebuchet MS" panose="020B0603020202020204" pitchFamily="34" charset="0"/>
              </a:rPr>
              <a:t>Dashboard Development and Visualization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4909" y="1242007"/>
            <a:ext cx="1046018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Dashboard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Main Dashboard: Overall revenue, profitability, and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Market and Regional Analysis: Compare revenue, profit, and performance across regions and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Customer and Retention Analysis: Explore customer details and rule-based churn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Collections and Payment Analysis: Examine payment </a:t>
            </a:r>
            <a:r>
              <a:rPr kumimoji="0" lang="en-US" altLang="en-US" sz="1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behaviour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and collection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Tickets and CSAT Analysis: Monitor ticket resolution and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Plans and Devices Analysis: Compare plan performance, usage, and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Discounts and Margins: </a:t>
            </a:r>
            <a:r>
              <a:rPr kumimoji="0" lang="en-US" altLang="en-US" sz="1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Analyse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discount patterns and their relationship with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Design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Organised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information into dedicated pages based on business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Used KPI cards and charts to present key metrics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Applied consistent filters to support interactive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4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4" y="353338"/>
            <a:ext cx="10820400" cy="61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9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Features and Visualizations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0470"/>
            <a:ext cx="10515600" cy="4820948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sz="2900" b="1" dirty="0">
                <a:latin typeface="Trebuchet MS" panose="020B0603020202020204" pitchFamily="34" charset="0"/>
              </a:rPr>
              <a:t>Interactive Features and </a:t>
            </a:r>
            <a:r>
              <a:rPr lang="en-US" sz="2900" b="1" dirty="0" smtClean="0">
                <a:latin typeface="Trebuchet MS" panose="020B0603020202020204" pitchFamily="34" charset="0"/>
              </a:rPr>
              <a:t>Visualizations</a:t>
            </a:r>
          </a:p>
          <a:p>
            <a:pPr marL="114300" indent="0">
              <a:buNone/>
            </a:pPr>
            <a:endParaRPr lang="en-US" sz="2900" b="1" dirty="0">
              <a:latin typeface="Trebuchet MS" panose="020B0603020202020204" pitchFamily="34" charset="0"/>
            </a:endParaRPr>
          </a:p>
          <a:p>
            <a:pPr marL="114300" indent="0">
              <a:buNone/>
            </a:pPr>
            <a:r>
              <a:rPr lang="en-US" sz="2900" b="1" dirty="0">
                <a:latin typeface="Trebuchet MS" panose="020B0603020202020204" pitchFamily="34" charset="0"/>
              </a:rPr>
              <a:t>KPIs</a:t>
            </a:r>
            <a:endParaRPr lang="en-US" sz="2900" dirty="0">
              <a:latin typeface="Trebuchet MS" panose="020B0603020202020204" pitchFamily="34" charset="0"/>
            </a:endParaRPr>
          </a:p>
          <a:p>
            <a:r>
              <a:rPr lang="en-US" sz="2900" dirty="0">
                <a:latin typeface="Trebuchet MS" panose="020B0603020202020204" pitchFamily="34" charset="0"/>
              </a:rPr>
              <a:t>Total Revenue, Total Profit, Profit Margin %, ARPU, YoY Growth %, Tickets Resolved %, Average CSAT, and Payment Delayed </a:t>
            </a:r>
            <a:r>
              <a:rPr lang="en-US" sz="2900" dirty="0" smtClean="0">
                <a:latin typeface="Trebuchet MS" panose="020B0603020202020204" pitchFamily="34" charset="0"/>
              </a:rPr>
              <a:t>%.</a:t>
            </a:r>
          </a:p>
          <a:p>
            <a:endParaRPr lang="en-US" sz="2900" dirty="0">
              <a:latin typeface="Trebuchet MS" panose="020B0603020202020204" pitchFamily="34" charset="0"/>
            </a:endParaRPr>
          </a:p>
          <a:p>
            <a:pPr marL="114300" indent="0">
              <a:buNone/>
            </a:pPr>
            <a:r>
              <a:rPr lang="en-US" sz="2900" b="1" dirty="0">
                <a:latin typeface="Trebuchet MS" panose="020B0603020202020204" pitchFamily="34" charset="0"/>
              </a:rPr>
              <a:t>Visualizations</a:t>
            </a:r>
            <a:endParaRPr lang="en-US" sz="2900" dirty="0">
              <a:latin typeface="Trebuchet MS" panose="020B0603020202020204" pitchFamily="34" charset="0"/>
            </a:endParaRPr>
          </a:p>
          <a:p>
            <a:r>
              <a:rPr lang="en-US" sz="2900" dirty="0">
                <a:latin typeface="Trebuchet MS" panose="020B0603020202020204" pitchFamily="34" charset="0"/>
              </a:rPr>
              <a:t>Trend charts for revenue and profit over time.</a:t>
            </a:r>
          </a:p>
          <a:p>
            <a:r>
              <a:rPr lang="en-US" sz="2900" dirty="0">
                <a:latin typeface="Trebuchet MS" panose="020B0603020202020204" pitchFamily="34" charset="0"/>
              </a:rPr>
              <a:t>Comparisons across markets, regions, plans, and devices.</a:t>
            </a:r>
          </a:p>
          <a:p>
            <a:r>
              <a:rPr lang="en-US" sz="2900" dirty="0">
                <a:latin typeface="Trebuchet MS" panose="020B0603020202020204" pitchFamily="34" charset="0"/>
              </a:rPr>
              <a:t>Tables and charts for customer, collection, ticket, and satisfaction analysis</a:t>
            </a:r>
            <a:r>
              <a:rPr lang="en-US" sz="2900" dirty="0" smtClean="0">
                <a:latin typeface="Trebuchet MS" panose="020B0603020202020204" pitchFamily="34" charset="0"/>
              </a:rPr>
              <a:t>.</a:t>
            </a:r>
          </a:p>
          <a:p>
            <a:pPr marL="114300" indent="0">
              <a:buNone/>
            </a:pPr>
            <a:endParaRPr lang="en-US" sz="2900" dirty="0">
              <a:latin typeface="Trebuchet MS" panose="020B0603020202020204" pitchFamily="34" charset="0"/>
            </a:endParaRPr>
          </a:p>
          <a:p>
            <a:pPr marL="114300" indent="0">
              <a:buNone/>
            </a:pPr>
            <a:r>
              <a:rPr lang="en-US" sz="2900" b="1" dirty="0">
                <a:latin typeface="Trebuchet MS" panose="020B0603020202020204" pitchFamily="34" charset="0"/>
              </a:rPr>
              <a:t>Interactivity</a:t>
            </a:r>
            <a:endParaRPr lang="en-US" sz="2900" dirty="0">
              <a:latin typeface="Trebuchet MS" panose="020B0603020202020204" pitchFamily="34" charset="0"/>
            </a:endParaRPr>
          </a:p>
          <a:p>
            <a:r>
              <a:rPr lang="en-US" sz="2900" b="1" dirty="0">
                <a:latin typeface="Trebuchet MS" panose="020B0603020202020204" pitchFamily="34" charset="0"/>
              </a:rPr>
              <a:t>Slicers:</a:t>
            </a:r>
            <a:r>
              <a:rPr lang="en-US" sz="2900" dirty="0">
                <a:latin typeface="Trebuchet MS" panose="020B0603020202020204" pitchFamily="34" charset="0"/>
              </a:rPr>
              <a:t> Filter analysis by year, region, customer segment, plan, device, and other business attributes.</a:t>
            </a:r>
          </a:p>
          <a:p>
            <a:r>
              <a:rPr lang="en-US" sz="2900" b="1" dirty="0">
                <a:latin typeface="Trebuchet MS" panose="020B0603020202020204" pitchFamily="34" charset="0"/>
              </a:rPr>
              <a:t>Drill-through:</a:t>
            </a:r>
            <a:r>
              <a:rPr lang="en-US" sz="2900" dirty="0">
                <a:latin typeface="Trebuchet MS" panose="020B0603020202020204" pitchFamily="34" charset="0"/>
              </a:rPr>
              <a:t> Navigate to detailed market, customer, and plan views.</a:t>
            </a:r>
          </a:p>
          <a:p>
            <a:r>
              <a:rPr lang="en-US" sz="2900" b="1" dirty="0">
                <a:latin typeface="Trebuchet MS" panose="020B0603020202020204" pitchFamily="34" charset="0"/>
              </a:rPr>
              <a:t>Tooltips and tables:</a:t>
            </a:r>
            <a:r>
              <a:rPr lang="en-US" sz="2900" dirty="0">
                <a:latin typeface="Trebuchet MS" panose="020B0603020202020204" pitchFamily="34" charset="0"/>
              </a:rPr>
              <a:t> Support closer examination of business metrics and individual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12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1764" cy="341331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3515"/>
            <a:ext cx="6091764" cy="34244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65" y="0"/>
            <a:ext cx="6100236" cy="343351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764" y="3453719"/>
            <a:ext cx="6100236" cy="34042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428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909493"/>
          </a:xfrm>
        </p:spPr>
        <p:txBody>
          <a:bodyPr/>
          <a:lstStyle/>
          <a:p>
            <a:r>
              <a:rPr lang="en-IN" dirty="0" smtClean="0">
                <a:latin typeface="Trebuchet MS" panose="020B0603020202020204" pitchFamily="34" charset="0"/>
              </a:rPr>
              <a:t>Key Business Questions And Insights</a:t>
            </a:r>
            <a:endParaRPr lang="en-IN" dirty="0">
              <a:latin typeface="Trebuchet MS" panose="020B0603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976330"/>
              </p:ext>
            </p:extLst>
          </p:nvPr>
        </p:nvGraphicFramePr>
        <p:xfrm>
          <a:off x="304798" y="1066800"/>
          <a:ext cx="11333019" cy="5579189"/>
        </p:xfrm>
        <a:graphic>
          <a:graphicData uri="http://schemas.openxmlformats.org/drawingml/2006/table">
            <a:tbl>
              <a:tblPr/>
              <a:tblGrid>
                <a:gridCol w="3777673">
                  <a:extLst>
                    <a:ext uri="{9D8B030D-6E8A-4147-A177-3AD203B41FA5}">
                      <a16:colId xmlns:a16="http://schemas.microsoft.com/office/drawing/2014/main" val="3738914393"/>
                    </a:ext>
                  </a:extLst>
                </a:gridCol>
                <a:gridCol w="3777673">
                  <a:extLst>
                    <a:ext uri="{9D8B030D-6E8A-4147-A177-3AD203B41FA5}">
                      <a16:colId xmlns:a16="http://schemas.microsoft.com/office/drawing/2014/main" val="3834462145"/>
                    </a:ext>
                  </a:extLst>
                </a:gridCol>
                <a:gridCol w="3777673">
                  <a:extLst>
                    <a:ext uri="{9D8B030D-6E8A-4147-A177-3AD203B41FA5}">
                      <a16:colId xmlns:a16="http://schemas.microsoft.com/office/drawing/2014/main" val="3300431229"/>
                    </a:ext>
                  </a:extLst>
                </a:gridCol>
              </a:tblGrid>
              <a:tr h="366596">
                <a:tc>
                  <a:txBody>
                    <a:bodyPr/>
                    <a:lstStyle/>
                    <a:p>
                      <a:r>
                        <a:rPr lang="en-IN"/>
                        <a:t>Business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Key 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Recommendation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15139"/>
                  </a:ext>
                </a:extLst>
              </a:tr>
              <a:tr h="1136449">
                <a:tc>
                  <a:txBody>
                    <a:bodyPr/>
                    <a:lstStyle/>
                    <a:p>
                      <a:r>
                        <a:rPr lang="en-US"/>
                        <a:t>Why is one region generating high revenue but low profit?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Regional profit margins remain broadly similar at around 68–69%, with no significant high-revenue/low-margin outlier.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Investigate plan mix, discounts, and customer composition to identify opportunities for margin improvement.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547068"/>
                  </a:ext>
                </a:extLst>
              </a:tr>
              <a:tr h="879832">
                <a:tc>
                  <a:txBody>
                    <a:bodyPr/>
                    <a:lstStyle/>
                    <a:p>
                      <a:r>
                        <a:rPr lang="en-US"/>
                        <a:t>Are high discount campaigns improving retention or just lowering margins?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Basic has the highest discount rate (19.12%) and lowest profit margin (64.60%), while Enterprise-Pro has the lowest discount rate (4.35%) and highest margin (72.32%). All plans show the same rule-based churn-risk rate.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Review broad discounting and evaluate targeted offers while monitoring retention and profitability.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82773"/>
                  </a:ext>
                </a:extLst>
              </a:tr>
              <a:tr h="879832">
                <a:tc>
                  <a:txBody>
                    <a:bodyPr/>
                    <a:lstStyle/>
                    <a:p>
                      <a:r>
                        <a:rPr lang="en-US"/>
                        <a:t>Which segments should be prioritized for upselling?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1,460 Small Business customers are already on SMB-Plus, while other Small Business customers may be suitable for upgrades.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Identify suitable customers on lower-tier plans for targeted SMB-Plus offers based on usage and plan suitability.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755681"/>
                  </a:ext>
                </a:extLst>
              </a:tr>
              <a:tr h="879832">
                <a:tc>
                  <a:txBody>
                    <a:bodyPr/>
                    <a:lstStyle/>
                    <a:p>
                      <a:r>
                        <a:rPr lang="en-US"/>
                        <a:t>Do certain device categories correlate with higher network costs or churn?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Average network costs range from 8,879 for Feature phones to 90,152 for Tablets. Churn risk is approximately 8% across device categories.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Investigate costs associated with Tablets and IoT/Modem devices, and focus churn initiatives on other customer risk signals.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712868"/>
                  </a:ext>
                </a:extLst>
              </a:tr>
              <a:tr h="879832">
                <a:tc>
                  <a:txBody>
                    <a:bodyPr/>
                    <a:lstStyle/>
                    <a:p>
                      <a:r>
                        <a:rPr lang="en-US"/>
                        <a:t>What strategies can improve ARPU and profit margins?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ARPU ranges from ₹100.25 in the UAE to ₹109.82 in Brazil, while profit margins remain broadly stable.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Study high-ARPU regions for pricing, plan-mix, and upselling practices that could be adapted elsewhere without eroding margins.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074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64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09"/>
            <a:ext cx="5655047" cy="34653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63637"/>
            <a:ext cx="5655048" cy="33943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047" y="-1710"/>
            <a:ext cx="6475017" cy="33545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046" y="3463635"/>
            <a:ext cx="6475018" cy="33943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689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b="1" dirty="0">
                <a:solidFill>
                  <a:schemeClr val="tx1"/>
                </a:solidFill>
                <a:latin typeface="Trebuchet MS" panose="020B0603020202020204" pitchFamily="34" charset="0"/>
              </a:rPr>
              <a:t>Conclusion and Recommendations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/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69663"/>
            <a:ext cx="931718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Developed an interactive Power BI dashboard integrating customer, usage, billing, regional, and service-ticket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Enabled monitoring of revenue, profitability, customer service, payment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behaviour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, and customer churn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Identified opportunities to review discount strategies, improve ARPU,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optimise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network costs, and target suitable customers for upselling.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Key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Review discount strategies to balance profitability and customer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Explore targeted upselling and higher-value plan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Investigate high network costs across device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Monitor payment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behaviour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and customer service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Refine churn-risk analysis using additional customer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behaviour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Overall Outcome: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A consolidated dashboard that supports data-driven performance monitoring and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09808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Challenges Faced and Learnings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096000" y="1151531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300" b="1" dirty="0">
                <a:solidFill>
                  <a:schemeClr val="tx1"/>
                </a:solidFill>
                <a:latin typeface="Trebuchet MS" panose="020B0603020202020204" pitchFamily="34" charset="0"/>
              </a:rPr>
              <a:t>Key </a:t>
            </a:r>
            <a:r>
              <a:rPr lang="en-US" altLang="en-US" sz="23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Learnings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3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rebuchet MS" panose="020B0603020202020204" pitchFamily="34" charset="0"/>
              </a:rPr>
              <a:t>Understood the importance of data quality and a well-structured data model.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rebuchet MS" panose="020B0603020202020204" pitchFamily="34" charset="0"/>
              </a:rPr>
              <a:t>Improved practical knowledge of Power Query, DAX, and Power BI visualizations.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rebuchet MS" panose="020B0603020202020204" pitchFamily="34" charset="0"/>
              </a:rPr>
              <a:t>Learned the difference between calculated columns and measures.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rebuchet MS" panose="020B0603020202020204" pitchFamily="34" charset="0"/>
              </a:rPr>
              <a:t>Gained experience validating KPIs and troubleshooting filter-related issues.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rebuchet MS" panose="020B0603020202020204" pitchFamily="34" charset="0"/>
              </a:rPr>
              <a:t>Learned to interpret data from a business perspective and communicate actionable insights.</a:t>
            </a:r>
          </a:p>
          <a:p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8819" y="1137677"/>
            <a:ext cx="439881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Challenges 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Cleaning: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Handling data type issues and missing values across multiple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Modelling: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Establishing correct relationships between customer, usage, ticket, regional, and calendar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DAX Calculations: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Developing measures for revenue, profitability, YoY growth, and customer churn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Filter Context: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Ensuring slicers and relationships influenced visuals as intended.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Business Interpretation: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Translating dashboard metrics into meaningful business insights and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6" y="845128"/>
            <a:ext cx="9753599" cy="490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5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</TotalTime>
  <Words>1837</Words>
  <Application>Microsoft Office PowerPoint</Application>
  <PresentationFormat>Widescreen</PresentationFormat>
  <Paragraphs>237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Trebuchet MS</vt:lpstr>
      <vt:lpstr>Libre Baskerville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Why you want to learn Data Science ? </vt:lpstr>
      <vt:lpstr>Agenda</vt:lpstr>
      <vt:lpstr>Business Problem And Domain Understanding</vt:lpstr>
      <vt:lpstr>Objective</vt:lpstr>
      <vt:lpstr>Project Workflow And Tools Used</vt:lpstr>
      <vt:lpstr>Summary Of The Dataset</vt:lpstr>
      <vt:lpstr>Data Preparation And Transformation</vt:lpstr>
      <vt:lpstr>Data Modelling</vt:lpstr>
      <vt:lpstr>DAX Measures and KPIs</vt:lpstr>
      <vt:lpstr>Calculated Columns vs Measures</vt:lpstr>
      <vt:lpstr>Dashboard Development and Visualization </vt:lpstr>
      <vt:lpstr>PowerPoint Presentation</vt:lpstr>
      <vt:lpstr>Interactive Features and Visualizations </vt:lpstr>
      <vt:lpstr>PowerPoint Presentation</vt:lpstr>
      <vt:lpstr>Key Business Questions And Insights</vt:lpstr>
      <vt:lpstr>PowerPoint Presentation</vt:lpstr>
      <vt:lpstr>Conclusion and Recommendations </vt:lpstr>
      <vt:lpstr>Challenges Faced and Learnings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Admin</cp:lastModifiedBy>
  <cp:revision>62</cp:revision>
  <dcterms:created xsi:type="dcterms:W3CDTF">2021-02-16T05:19:01Z</dcterms:created>
  <dcterms:modified xsi:type="dcterms:W3CDTF">2026-10-24T12:56:24Z</dcterms:modified>
</cp:coreProperties>
</file>